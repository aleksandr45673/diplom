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60"/>
  </p:normalViewPr>
  <p:slideViewPr>
    <p:cSldViewPr snapToGrid="0">
      <p:cViewPr>
        <p:scale>
          <a:sx n="66" d="100"/>
          <a:sy n="66" d="100"/>
        </p:scale>
        <p:origin x="2472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65FEC5-688E-4835-94B6-2D809342C75D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C4ED66-6D66-4127-8E20-B07ADBD701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1056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3ECAA-5532-4040-86CC-70015C23B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8E11265-41E0-8D95-FB5E-C1547DED08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91D4F4-2135-2442-6C87-74FC0248D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B3DE35-664E-BCC7-9D63-1EF1E3D1D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842DF6-57AE-C775-DA21-EDCD681A7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489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23C843-1265-1418-E1CB-F94985E6D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12C080-03FB-1672-8C0A-0B1FFA884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A11811-42DD-C63D-7897-D4CBF946A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429CB7-8687-B137-0D42-F80856E87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7A95FB-0871-1476-B90B-F02EC32BE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3811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29AA0C-EBEA-FB96-AD34-CE35CB0EA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84C75D-2BD7-99A7-409C-CB2791BB9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541BC7-79EE-AFFF-4DA5-EA9223035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BF28DA-F3C5-2074-28B3-48D91B120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6E2052-7BF8-7879-A1DD-F47DD8FBA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834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C8A4C2-2CF6-80D7-8D02-1088211DB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83476D-2288-E93E-0578-5BB2A59D7C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02B140C-826A-7074-E5A7-E94630DEE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04C821-5838-27B6-B986-E62B86B70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EC07AD-392E-6BDF-0F28-384054FAB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C0116E-13A0-3C61-3825-4CE517BBC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223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E21435-ECBF-154A-A76D-159D370C0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4DC7C8-B23C-80CC-53CE-5AB223C69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9F06A74-30DA-E7B0-006F-B4307D403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30B23EB-1576-EB05-3345-CC28247AFC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E643AD4-58B3-8CC1-3BA7-C45C0C8970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E7507C6-FA9F-6D59-FF05-23AEA3C8F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DB0AE00-9587-E0D9-117A-F6E48754F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E070751-C84C-9D88-18C0-6105E380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41792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93CB74-86A6-07E1-3876-B105E47C2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0722277-B80E-90D3-04A3-E463492BF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B88646E-D56A-03E0-F11F-09A959514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B42424-22BB-CA27-EC6D-E1DFC28BD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8271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F4C7534-E62F-FE4A-BCB3-2498861B8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AC0F553-B3DE-FBC5-5395-B84E6443D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C96AE4-8820-7F50-D66B-F67AADEB8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695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61AD84-7865-83CD-6010-22D7634B5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D7D0CF-F660-592F-F3DD-E252BAD09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B5D3D71-AB1B-540F-2DD9-1DEFF1D1B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7639851-5F45-016C-0156-862930FF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4547263-149C-037A-F93F-97E96C80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F23046-AF48-CBEC-1311-141D9FBC0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612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1C6BEF-DC16-EF54-3E4E-5D67F1FBD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D0E373A-DADC-86BD-7C2A-6787C89616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FA0714-6E32-C169-DFB2-8CC690E996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5DFC3F-3232-A218-A40C-7B3338706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A487F4-4B58-82E4-8E21-497F78F93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3F85C1-98F1-330D-3704-521B140F5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9838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3E0522-9452-CAC8-ABA4-0515677FF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ECD83B-231A-61A5-BE02-2B9FBFA81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520F86-5728-718D-B4EB-17C3DFB71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79DA8E-25A6-752C-E578-AF5623CC4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D56CB7-E853-09C0-CE64-8ADA116FE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428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6DB3967-83F3-BB0B-FB66-DF1A2C5BE8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18FA1F9-54DE-D6C0-B763-B1D3B0AB19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A44FC3-AE9D-0663-25F7-04B014A77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CE3823-2E26-3FB1-A6F8-0D96E5867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68EC07-71F8-2137-CCFA-E2C564840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8904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359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2D97D4-1259-8806-6AE2-1CF0CFB60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6FFE161-AFF6-EC7E-9F8D-FF20D9114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940F51-C530-7217-E70A-837FC8237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8528BA-81E2-4954-B1F0-9E60F8F247E8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A9D533-47B8-8BD1-27F3-CDD34824B5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B8A8E7-6B85-689D-1529-33E09ACCA6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3164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285750"/>
            <a:ext cx="104775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МИНИСТЕРСТВО ОБРАЗОВАНИЯ И НАУКИ РЕСПУБЛИКИ КОМИ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ГОСУДАРСТВЕННОЕ ПРОФЕССИОНАЛЬНОЕ ОБРАЗОВАТЕЛЬНОЕ УЧРЕЖДЕНИЕ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"ВОРКУТИНСКИЙ АРКТИЧЕСКИЙ ГОРНО-ПОЛИТЕХНИЧЕСКИЙ КОЛЛЕДЖ"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7250" y="2286000"/>
            <a:ext cx="10477500" cy="6667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9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ДИПЛОМНЫЙ ПРОЕКТ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016578" y="3048000"/>
            <a:ext cx="8158843" cy="1571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ru-RU" sz="225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Разработка прототипа информационной системы «Магазин автозапчастей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667500" y="5048250"/>
            <a:ext cx="4667250" cy="666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Руководитель проекта: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50000"/>
              </a:lnSpc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Козлова Ольга Николаевна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524500" y="5810250"/>
            <a:ext cx="5810250" cy="666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Выполнил студент группы: ИСП-22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50000"/>
              </a:lnSpc>
            </a:pPr>
            <a:r>
              <a:rPr lang="ru-RU" sz="13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Кандаков Александр Александрович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6280D8-DDE3-88D6-06FF-A7899AB86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779" y="7904914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504BBC-D849-DA92-5F37-85F5A7FF7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Цель и задачи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Цель проекта: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	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Разработка интерактивного прототипа информационной системы для автоматизированного управления магазином автозапчастей.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Задачи: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Провести анализ бизнес-процессов магазина автозапчастей и составить техническое задание.</a:t>
            </a:r>
          </a:p>
          <a:p>
            <a:pPr lvl="1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Спроектировать требования к ИС с использованием UML-диаграмм.</a:t>
            </a:r>
          </a:p>
          <a:p>
            <a:pPr lvl="1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Реализовать в среде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Figma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интерактивный прототип системы (каталог, заказы, клиенты, отчеты).</a:t>
            </a:r>
          </a:p>
        </p:txBody>
      </p:sp>
    </p:spTree>
    <p:extLst>
      <p:ext uri="{BB962C8B-B14F-4D97-AF65-F5344CB8AC3E}">
        <p14:creationId xmlns:p14="http://schemas.microsoft.com/office/powerpoint/2010/main" val="37480182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381F94-1F0E-A842-1808-750A35B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305" y="7038641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2DDBF-E265-DF9A-743F-6E279BC65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95" y="0"/>
            <a:ext cx="11774905" cy="6858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Анализ предметной области</a:t>
            </a: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Предметная область: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Магазин по продаже автозапчастей и расходных материалов.</a:t>
            </a: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Ключевые направления: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Управление товарными запасами: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Учет многовариантной номенклатуры, OEM-номеров и аналогов.</a:t>
            </a: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Работа с клиентами: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Консультация, подбор по VIN-коду, история покупок.</a:t>
            </a: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Обработка заказов: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Оформление продаж, резервирование, формирование накладных.</a:t>
            </a: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Финансовый учет и отчетность: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Анализ продаж, контроль рентабельности.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Проблемы ручного учета: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Ошибки в подборе запчастей и путаница с аналогами.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Дефицит востребованных позиций или образование неликвидов.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Низкая скорость обслуживания клиентов.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2557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A6B3EE-14BE-176E-7E01-9D4ECEFCE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536" y="8001167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EB6D12-7330-F60D-8BEC-3E0A2226A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Выбор инструментария</a:t>
            </a: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Инструмент проектирования: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Figma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(Версия Desktop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App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/ Web)</a:t>
            </a: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Преимущества выбора: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Векторная графика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и высокая точность макетов.</a:t>
            </a: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Интерактивное прототипирование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кликабельные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переходы, имитация работы интерфейса).</a:t>
            </a: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Компонентный подход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переиспользование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кнопок, карточек товаров).</a:t>
            </a: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Адаптивный дизайн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(отображение на разных разрешениях).</a:t>
            </a: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Облачная платформа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(публикация ссылки для просмотра без установки ПО).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Технические требования к просмотру: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Процессор: 2,5 ГГц, ОЗУ: 8 ГБ.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Разрешение экрана: 1920x1080.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Современный веб-браузер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Chrome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Edge).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29211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C3994A-8DF2-B8E4-F386-4F879C9DE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863" y="7551988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715AB3-8682-8241-166E-BD9FC9190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689558" cy="6858000"/>
          </a:xfrm>
        </p:spPr>
        <p:txBody>
          <a:bodyPr/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IDEF0 AS-IS (A-0)</a:t>
            </a:r>
          </a:p>
          <a:p>
            <a:pPr marL="457200" lvl="1" indent="0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Контекстная диаграмма текущего состояния («Как есть»)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2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Процесс: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«Управление деятельностью магазина автозапчастей»</a:t>
            </a:r>
          </a:p>
          <a:p>
            <a:pPr lvl="2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Входы: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Новые запчасти от поставщиков, заказы от клиентов.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2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Выходы: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Проданные запчасти, отчеты.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2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Управление: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Нормативные документы, каталоги совместимости.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2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Механизмы: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Персонал, бумажные журналы, MS Excel.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4CAE8E-EA53-D98D-510C-9652BF7A4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558" y="1509635"/>
            <a:ext cx="5372100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802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819261-96C4-FC10-B41A-FA5E2DE2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632" y="8065336"/>
            <a:ext cx="10515600" cy="1325563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F4BB7-DE74-6B7D-5BE1-6F7524197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641432" cy="6858000"/>
          </a:xfrm>
        </p:spPr>
        <p:txBody>
          <a:bodyPr/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IDEF0 AS-IS (A0)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Декомпозиция текущего состояния системы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	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Четыре основные функции процесса (с использованием Excel/ручного труда):</a:t>
            </a:r>
          </a:p>
          <a:p>
            <a:pPr lvl="1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Ручной учет запчастей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(ведение Excel-таблиц остатков и аналогов).</a:t>
            </a:r>
          </a:p>
          <a:p>
            <a:pPr lvl="1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Работа с клиентами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(регистрация заказов без CRM).</a:t>
            </a:r>
          </a:p>
          <a:p>
            <a:pPr lvl="1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Оформление продаж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(ручное заполнение чеков и документов).</a:t>
            </a:r>
          </a:p>
          <a:p>
            <a:pPr lvl="1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Ручная отчетность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(формирование отчетов в Excel).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78EEB6-255F-38FD-70F0-B00F809B7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1432" y="1477085"/>
            <a:ext cx="5283399" cy="323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397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117357-5234-E4E9-53FC-7D0CCCC5D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874" y="8450346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A41AA2-434B-8EB3-BD84-DA27875BD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096000" cy="6858000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IDEF0 TO-BE (A-0)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Контекстная диаграмма целевого состояния («Как должно быть»)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Процесс: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	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«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Автоматизированное управление магазином автозапчастей»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Входы: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Новые запчасти от поставщиков, заказы от клиентов.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Выходы: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Проданные запчасти, </a:t>
            </a:r>
            <a:r>
              <a:rPr lang="ru-RU" sz="2600" b="1" i="0" dirty="0">
                <a:solidFill>
                  <a:srgbClr val="0F1115"/>
                </a:solidFill>
                <a:effectLst/>
                <a:latin typeface="quote-cjk-patch"/>
              </a:rPr>
              <a:t>автоматические отчеты</a:t>
            </a:r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, электронные накладные.</a:t>
            </a:r>
            <a:b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2600" b="1" i="0" dirty="0">
                <a:solidFill>
                  <a:srgbClr val="0F1115"/>
                </a:solidFill>
                <a:effectLst/>
                <a:latin typeface="quote-cjk-patch"/>
              </a:rPr>
              <a:t>Управление:</a:t>
            </a:r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Нормативные документы, база OEM-номеров.</a:t>
            </a:r>
            <a:b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2600" b="1" i="0" dirty="0">
                <a:solidFill>
                  <a:srgbClr val="0F1115"/>
                </a:solidFill>
                <a:effectLst/>
                <a:latin typeface="quote-cjk-patch"/>
              </a:rPr>
              <a:t>Механизмы:</a:t>
            </a:r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Персонал</a:t>
            </a:r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 и </a:t>
            </a:r>
            <a:r>
              <a:rPr lang="ru-RU" sz="2600" b="1" i="0" dirty="0">
                <a:solidFill>
                  <a:srgbClr val="0F1115"/>
                </a:solidFill>
                <a:effectLst/>
                <a:latin typeface="quote-cjk-patch"/>
              </a:rPr>
              <a:t>Информационная система (Прототип в </a:t>
            </a:r>
            <a:r>
              <a:rPr lang="ru-RU" sz="2600" b="1" i="0" dirty="0" err="1">
                <a:solidFill>
                  <a:srgbClr val="0F1115"/>
                </a:solidFill>
                <a:effectLst/>
                <a:latin typeface="quote-cjk-patch"/>
              </a:rPr>
              <a:t>Figma</a:t>
            </a:r>
            <a:r>
              <a:rPr lang="ru-RU" sz="2600" b="1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 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2FB144-469C-9C45-D27D-C7A725974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52659"/>
            <a:ext cx="5662863" cy="392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151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44622A-62E5-04E6-59CD-330E3C123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3653" y="7648241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FEC24B-AD64-0D06-52EE-C5EE45545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352674" cy="6858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IDEF0 TO-BE (A0)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Декомпозиция целевого состояния системы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Четыре автоматизированные функции: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Автоматический учет склада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(актуальные остатки в реальном времени).</a:t>
            </a:r>
          </a:p>
          <a:p>
            <a:pPr lvl="1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CRM-система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(ведение карточек клиентов, история заказов).</a:t>
            </a:r>
          </a:p>
          <a:p>
            <a:pPr lvl="1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Модуль продаж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(авто-расчет суммы, формирование накладной, статусы заказа).</a:t>
            </a:r>
          </a:p>
          <a:p>
            <a:pPr lvl="1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Автоматическая отчетность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(генерация отчетов по продажам и остаткам).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21B582-0170-814F-BAAD-781F66F1A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674" y="1312477"/>
            <a:ext cx="5709887" cy="396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925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BEE39E-C42A-31F0-8444-BDC257577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958" y="7872831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18031D-3D1D-23E3-2D10-08E391FB9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096000" cy="6858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вариантов использования (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Use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 Case)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Актеры (роли) системы: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Администратор: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Полный доступ (управление пользователями, всеми заказами и каталогом).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Менеджер: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Работа с каталогом, клиентами, оформление заказов.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Клиент: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Просмотр каталога, оформление заказа, история покупок (через "Личный кабинет").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Основные функции (варианты использования):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Авторизоваться, Управлять каталогом, Искать запчасти, Оформить заказ.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7F1936-EA49-6199-665B-7CE83BC14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624522"/>
            <a:ext cx="5594985" cy="560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840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C0574-E10D-4C31-A14C-AD3338FC5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9463" y="8033252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03005A-F88A-D91F-D7CE-B6D876B62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432884" cy="6858000"/>
          </a:xfrm>
        </p:spPr>
        <p:txBody>
          <a:bodyPr/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деятельности (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Activity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Diagram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Процесс: </a:t>
            </a:r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«Оформление заказа клиентом»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Три дорожки участников (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Swimlanes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):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Клиент: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Выбирает запчасть → Добавляет в корзину → Оплачивает → Получает товар.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Система (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Figma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 прототип):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Проверяет остаток → Резервирует товар → Формирует чек → Меняет статус заказа.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Менеджер: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Подтверждает заказ → Передает в выдачу.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4CDEC9-EF86-2303-5175-99A7FAB22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952" y="494982"/>
            <a:ext cx="3409950" cy="586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495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328769-75E1-80B9-83BF-E3B3F7205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71500" y="7885906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75CF77-750B-4DD9-FC56-44EAC61F8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593305" cy="6858000"/>
          </a:xfrm>
        </p:spPr>
        <p:txBody>
          <a:bodyPr>
            <a:normAutofit lnSpcReduction="10000"/>
          </a:bodyPr>
          <a:lstStyle/>
          <a:p>
            <a:pPr algn="l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последовательности (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Sequence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Diagram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Взаимодействие объектов при оформлении заказа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Участники: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Клиент, Менеджер, ИС (</a:t>
            </a:r>
            <a:r>
              <a:rPr lang="ru-RU" sz="2400" b="0" i="0" dirty="0" err="1">
                <a:solidFill>
                  <a:srgbClr val="0F1115"/>
                </a:solidFill>
                <a:effectLst/>
                <a:latin typeface="quote-cjk-patch"/>
              </a:rPr>
              <a:t>Figma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), База данных.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Последовательность сообщений: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Клиент → Менеджер: запрос запчасти.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Менеджер → ИС: поиск по каталогу / VIN.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ИС → БД: выполнение запроса.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БД → ИС: результат (наличие/цена).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Менеджер → Клиент: информирование о цене.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Клиент → Менеджер: согласие на заказ.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Менеджер → ИС: формирование заказа и накладной.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172A89-D06D-293A-585D-57A92C241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305" y="1027906"/>
            <a:ext cx="4779645" cy="460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729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79C7B3-6335-6177-C2A6-2A1E68D8E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2955DC-0F26-4219-78E6-BCC127101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304547" cy="6858000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ER-диаграмма (Сущность-Связь)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Структура данных информационной системы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Шесть основных сущностей: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Пользователи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(ID, Логин, Пароль, Роль).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Клиенты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(ФИО, Контакты, История заказов). Связь 1:N с Заказами.</a:t>
            </a:r>
          </a:p>
          <a:p>
            <a:pPr algn="l">
              <a:buFont typeface="+mj-lt"/>
              <a:buAutoNum type="arabicPeriod"/>
            </a:pP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Каталог_запчастей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(Артикул, Название, Цена, Остаток, Совместимость). Связь 1:N с Заказами.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Заказы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(Номер, Дата, Клиент, Статус, Сумма). Центральная сущность.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Поставщики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(Название, Контакты). Связь M:N с Каталогом.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Отчеты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(ID, Дата, Тип отчета, Данные).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33EF37D-FF0B-6B32-30C9-A45424F04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547" y="123825"/>
            <a:ext cx="5939790" cy="67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495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67B1E1-A9B6-A20C-8E68-06FEC04AE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674" y="8013382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5784EC-BCC2-51DE-2B96-FD49E9D39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657474" cy="6858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классов (Class 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Diagram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marL="0" indent="0" algn="l">
              <a:buNone/>
            </a:pPr>
            <a:r>
              <a:rPr lang="en-US" sz="2400" i="0" dirty="0">
                <a:solidFill>
                  <a:srgbClr val="0F1115"/>
                </a:solidFill>
                <a:effectLst/>
                <a:latin typeface="quote-cjk-patch"/>
              </a:rPr>
              <a:t>	</a:t>
            </a:r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Статическая структура системы (объектная модель)</a:t>
            </a:r>
            <a:endParaRPr lang="en-US" sz="2400" dirty="0">
              <a:solidFill>
                <a:srgbClr val="0F1115"/>
              </a:solidFill>
              <a:latin typeface="quote-cjk-patch"/>
            </a:endParaRP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Основные классы (на уровне прототипа):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Класс «Пользователь»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(Атрибуты: Логин, Пароль. Метод: Вход()).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Класс «Администратор»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(наследует Пользователя. Методы: </a:t>
            </a:r>
            <a:r>
              <a:rPr lang="ru-RU" sz="2400" b="0" i="0" dirty="0" err="1">
                <a:solidFill>
                  <a:srgbClr val="0F1115"/>
                </a:solidFill>
                <a:effectLst/>
                <a:latin typeface="quote-cjk-patch"/>
              </a:rPr>
              <a:t>УправлениеПользователями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()).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Класс «Менеджер»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(наследует Пользователя. Методы: </a:t>
            </a:r>
            <a:r>
              <a:rPr lang="ru-RU" sz="2400" b="0" i="0" dirty="0" err="1">
                <a:solidFill>
                  <a:srgbClr val="0F1115"/>
                </a:solidFill>
                <a:effectLst/>
                <a:latin typeface="quote-cjk-patch"/>
              </a:rPr>
              <a:t>ОформитьЗаказ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()).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Класс «Запчасть»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(Атрибуты: Артикул, Цена, Остаток).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Класс «Заказ»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(Атрибуты: Номер, Статус, Сумма. Метод: </a:t>
            </a:r>
            <a:r>
              <a:rPr lang="ru-RU" sz="2400" b="0" i="0" dirty="0" err="1">
                <a:solidFill>
                  <a:srgbClr val="0F1115"/>
                </a:solidFill>
                <a:effectLst/>
                <a:latin typeface="quote-cjk-patch"/>
              </a:rPr>
              <a:t>РассчитатьИтог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()).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A1D266D-8736-0EB7-72D3-6C2C472BB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664" y="1155382"/>
            <a:ext cx="5134610" cy="454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0401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1D73D9-6093-E7A2-8F61-81F2E8877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95" y="7551988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A70607-B332-A470-54B6-7B2383CD8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208295" cy="6858000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Форма «Авторизация»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Механизм контроля доступа к системе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Обязательные элементы формы (макет в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Figma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):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Поле ввода логина.</a:t>
            </a:r>
          </a:p>
          <a:p>
            <a:pPr lvl="1"/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Поле ввода пароля (с маскировкой).</a:t>
            </a:r>
          </a:p>
          <a:p>
            <a:pPr lvl="1"/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Кнопка «Войти».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Сценарии работы (интерактив в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Figma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):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sz="2600" b="1" i="0" dirty="0">
                <a:solidFill>
                  <a:srgbClr val="0F1115"/>
                </a:solidFill>
                <a:effectLst/>
                <a:latin typeface="quote-cjk-patch"/>
              </a:rPr>
              <a:t>Успешная авторизация:</a:t>
            </a:r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 Переход на форму «Главная» с ролевым меню.</a:t>
            </a:r>
          </a:p>
          <a:p>
            <a:pPr lvl="1"/>
            <a:r>
              <a:rPr lang="ru-RU" sz="2600" b="1" i="0" dirty="0">
                <a:solidFill>
                  <a:srgbClr val="0F1115"/>
                </a:solidFill>
                <a:effectLst/>
                <a:latin typeface="quote-cjk-patch"/>
              </a:rPr>
              <a:t>Ошибка в данных:</a:t>
            </a:r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 Появление всплывающего сообщения поле пароля очищается.</a:t>
            </a:r>
          </a:p>
          <a:p>
            <a:pPr lvl="1"/>
            <a:r>
              <a:rPr lang="ru-RU" sz="2600" b="1" i="0" dirty="0">
                <a:solidFill>
                  <a:srgbClr val="0F1115"/>
                </a:solidFill>
                <a:effectLst/>
                <a:latin typeface="quote-cjk-patch"/>
              </a:rPr>
              <a:t>Отображаемые роли после входа:</a:t>
            </a:r>
            <a:endParaRPr lang="ru-RU" sz="2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Администратор видит пункт «Пользователи».</a:t>
            </a:r>
          </a:p>
          <a:p>
            <a:pPr lvl="1"/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Менеджер видит только «Каталог», «Заказы», «Клиенты»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116420-0831-59EE-DDEB-7C06F5A54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699" y="889952"/>
            <a:ext cx="3409950" cy="507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905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C33CA6-1F0B-DE43-B6A5-16196C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1188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923704-A279-1116-8514-AAD135C2D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529137" cy="6858000"/>
          </a:xfrm>
        </p:spPr>
        <p:txBody>
          <a:bodyPr/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Форма «Главная» и «Каталог»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Главная страница (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Dashboard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):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Приветствие пользователя.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Блоки с ключевыми показателями (KPI): Остаток на складе, Выручка за месяц, Кол-во заказов сегодня.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Навигационное меню (слева).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Форма «Каталог автозапчастей»: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Таблица/Карточки товаров (Фото, Артикул, Название, Цена, Остаток).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Строка поиска и фильтры (по бренду, категории, совместимости).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Кнопка «Поступление товара» (для менеджера).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62AD10-A9B0-A3EC-E667-4A5961D89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241884"/>
            <a:ext cx="5189955" cy="307325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7C80DB2-698B-D337-5561-FF365DA20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405" y="3721769"/>
            <a:ext cx="5410200" cy="289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757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C0CFD5-0B94-D12E-08DD-DE312C972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72831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8CC0A1-1172-78EA-690D-E99789969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272463" cy="6858000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Форма «Заказы»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Документ для оформления продаж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Основные реквизиты формы: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Номер заказа, Дата, Клиент (выбор из справочника), Статус (Новый / Оплачен / Выдан / Отменен).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Табличная часть: Список запчастей (Артикул, Наименование, Кол-во, Цена).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Ключевые функции (демонстрируемые в прототипе):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Автоматический расчет итоговой суммы заказа.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Смена статуса заказа (интерактивное выпадающее меню).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Кнопка «Сформировать накладную» (открытие макета печатной формы).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Для клиента: «Мои заказы» (только история).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681D19E-712A-0BD3-918E-BB4DB3CD6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345" y="1785937"/>
            <a:ext cx="4893310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783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C2A41F-DA94-FC06-F364-54F15AA68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874" y="8610767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411048-1D26-ABEC-60FB-B7F6F63C3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7587916" cy="6858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Форма «Пользователи» и «Отчеты»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Управление пользователями (только для Администратора):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Список сотрудников (Логин, ФИО, Роль, Статус).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Кнопки: «Добавить пользователя», «Заблокировать», «Сброс пароля».</a:t>
            </a:r>
          </a:p>
          <a:p>
            <a:pPr marL="457200" lvl="1" indent="0"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 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(Отображено модальное окно редактирования роли).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Форма «Отчеты»: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Выбор периода (календарь).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Виды отчетов: Продажи по месяцам (график), Остатки на складе.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Кнопка «Экспорт в Excel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2468F2C-D287-0009-D185-6225FE7AA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8628" y="47625"/>
            <a:ext cx="4516755" cy="29622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03DC38-F029-A202-B616-F10BB832F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226" y="3895724"/>
            <a:ext cx="4671774" cy="2962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976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1041EA-EC0F-DAA4-7C16-31B4AD1E4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9280525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8C49FE-A3EA-121E-D21E-9095F9FF6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Заключение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 рамках дипломного проекта разработан прототип ИС для автоматизации магазина автозапчастей.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Реализовано в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Figma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Интерактивный макет с ключевыми экранами (Авторизация, Главная, Каталог, Заказы, Пользователи, Отчеты).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Сценарии навигации (переходы между экранами).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Система ролей (Администратор / Менеджер / Клиент) на уровне прототипа.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Результат: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	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Прототип наглядно демонстрирует отказ от ручного учета, снижение ошибок при подборе запчастей и повышение скорости обслуживания. Может служить техническим заданием для разработчиков.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7965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0451A5-C053-70D2-342B-5304ABD38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2011" y="2766218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Спасибо за внимание!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96D442-DEB5-4D3C-39B1-479803E50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8340725"/>
            <a:ext cx="10515600" cy="43513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4140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1333</Words>
  <Application>Microsoft Office PowerPoint</Application>
  <PresentationFormat>Широкоэкранный</PresentationFormat>
  <Paragraphs>156</Paragraphs>
  <Slides>19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quote-cjk-patch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nike pro</dc:creator>
  <cp:lastModifiedBy>nike pro</cp:lastModifiedBy>
  <cp:revision>1</cp:revision>
  <dcterms:created xsi:type="dcterms:W3CDTF">2026-06-10T20:29:43Z</dcterms:created>
  <dcterms:modified xsi:type="dcterms:W3CDTF">2026-06-10T20:34:48Z</dcterms:modified>
</cp:coreProperties>
</file>