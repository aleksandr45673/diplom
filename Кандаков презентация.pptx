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FEC5-688E-4835-94B6-2D809342C75D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4ED66-6D66-4127-8E20-B07ADBD70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05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3ECAA-5532-4040-86CC-70015C23B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E11265-41E0-8D95-FB5E-C1547DED0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91D4F4-2135-2442-6C87-74FC0248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3DE35-664E-BCC7-9D63-1EF1E3D1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842DF6-57AE-C775-DA21-EDCD681A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48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3C843-1265-1418-E1CB-F94985E6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2C080-03FB-1672-8C0A-0B1FFA88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A11811-42DD-C63D-7897-D4CBF946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429CB7-8687-B137-0D42-F80856E8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7A95FB-0871-1476-B90B-F02EC32B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81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9AA0C-EBEA-FB96-AD34-CE35CB0E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84C75D-2BD7-99A7-409C-CB2791BB9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541BC7-79EE-AFFF-4DA5-EA922303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BF28DA-F3C5-2074-28B3-48D91B12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6E2052-7BF8-7879-A1DD-F47DD8FB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83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8A4C2-2CF6-80D7-8D02-1088211D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83476D-2288-E93E-0578-5BB2A59D7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2B140C-826A-7074-E5A7-E94630DEE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04C821-5838-27B6-B986-E62B86B7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EC07AD-392E-6BDF-0F28-384054FA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C0116E-13A0-3C61-3825-4CE517BB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22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21435-ECBF-154A-A76D-159D370C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4DC7C8-B23C-80CC-53CE-5AB223C69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F06A74-30DA-E7B0-006F-B4307D403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0B23EB-1576-EB05-3345-CC28247AF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643AD4-58B3-8CC1-3BA7-C45C0C897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E7507C6-FA9F-6D59-FF05-23AEA3C8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B0AE00-9587-E0D9-117A-F6E48754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070751-C84C-9D88-18C0-6105E380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7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3CB74-86A6-07E1-3876-B105E47C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722277-B80E-90D3-04A3-E463492B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88646E-D56A-03E0-F11F-09A95951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B42424-22BB-CA27-EC6D-E1DFC28B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27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4C7534-E62F-FE4A-BCB3-2498861B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C0F553-B3DE-FBC5-5395-B84E6443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C96AE4-8820-7F50-D66B-F67AADEB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9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1AD84-7865-83CD-6010-22D7634B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D7D0CF-F660-592F-F3DD-E252BAD09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5D3D71-AB1B-540F-2DD9-1DEFF1D1B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639851-5F45-016C-0156-862930FF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547263-149C-037A-F93F-97E96C80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23046-AF48-CBEC-1311-141D9FBC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61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C6BEF-DC16-EF54-3E4E-5D67F1FB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0E373A-DADC-86BD-7C2A-6787C8961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FA0714-6E32-C169-DFB2-8CC690E99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5DFC3F-3232-A218-A40C-7B333870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487F4-4B58-82E4-8E21-497F78F9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3F85C1-98F1-330D-3704-521B140F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98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E0522-9452-CAC8-ABA4-0515677F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ECD83B-231A-61A5-BE02-2B9FBFA81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520F86-5728-718D-B4EB-17C3DFB7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79DA8E-25A6-752C-E578-AF5623CC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56CB7-E853-09C0-CE64-8ADA116F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42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DB3967-83F3-BB0B-FB66-DF1A2C5BE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8FA1F9-54DE-D6C0-B763-B1D3B0AB1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A44FC3-AE9D-0663-25F7-04B014A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E3823-2E26-3FB1-A6F8-0D96E586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8EC07-71F8-2137-CCFA-E2C56484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90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5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D97D4-1259-8806-6AE2-1CF0CFB6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FFE161-AFF6-EC7E-9F8D-FF20D9114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940F51-C530-7217-E70A-837FC8237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528BA-81E2-4954-B1F0-9E60F8F247E8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A9D533-47B8-8BD1-27F3-CDD34824B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8A8E7-6B85-689D-1529-33E09ACC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16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figma.com/make/ov2iRCbFoyIFxV6CnDbENL/%D0%9C%D0%B0%D0%B3%D0%B0%D0%B7%D0%B8%D0%BD-%D0%B0%D0%B2%D1%82%D0%BE%D0%B7%D0%B0%D0%BF%D1%87%D0%B0%D1%81%D1%82%D0%B5%D0%B9?t=tcYPlmPVLdr9CckC-0&amp;fullscreen=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285750"/>
            <a:ext cx="104775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МИНИСТЕРСТВО ОБРАЗОВАНИЯ И НАУКИ РЕСПУБЛИКИ КОМИ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ГОСУДАРСТВЕННОЕ ПРОФЕССИОНАЛЬНОЕ ОБРАЗОВАТЕЛЬНОЕ УЧРЕЖДЕНИЕ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"ВОРКУТИНСКИЙ АРКТИЧЕСКИЙ ГОРНО-ПОЛИТЕХНИЧЕСКИЙ КОЛЛЕДЖ"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7250" y="2286000"/>
            <a:ext cx="10477500" cy="666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ДИПЛОМНЫЙ ПРОЕКТ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16578" y="3048000"/>
            <a:ext cx="8158843" cy="1571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ru-RU" sz="22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Разработка прототипа информационной системы «Магазин автозапчастей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67500" y="5048250"/>
            <a:ext cx="466725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Руководитель проекта: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Козлова Ольга Николаевна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24500" y="5810250"/>
            <a:ext cx="581025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Выполнил студент группы: ИСП-22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ru-RU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Кандаков Александр Александрович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280D8-DDE3-88D6-06FF-A7899AB8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9" y="7904914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04BBC-D849-DA92-5F37-85F5A7FF7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Цель и задачи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проекта: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интерактивного прототипа информационной системы для автоматизированного управления магазином автозапчастей.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Провести анализ бизнес-процессов магазина автозапчастей и составить техническое задание.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Спроектировать требования к ИС с использованием UML-диаграмм.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в среде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интерактивный прототип системы (каталог, заказы, клиенты, отчеты).</a:t>
            </a:r>
          </a:p>
        </p:txBody>
      </p:sp>
    </p:spTree>
    <p:extLst>
      <p:ext uri="{BB962C8B-B14F-4D97-AF65-F5344CB8AC3E}">
        <p14:creationId xmlns:p14="http://schemas.microsoft.com/office/powerpoint/2010/main" val="3748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81F94-1F0E-A842-1808-750A35B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05" y="703864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2DDBF-E265-DF9A-743F-6E279BC6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0"/>
            <a:ext cx="11774905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Анализ предметной области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Предметная область: Магазин по продаже автозапчастей и расходных материалов.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Ключевые направления: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Управление товарными запасами: Учет многовариантной номенклатуры, OEM-номеров и аналогов.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Работа с клиентами: Консультация, подбор по VIN-коду, история покупок.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Обработка заказов: Оформление продаж, резервирование, формирование накладных.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Финансовый учет и отчетность: Анализ продаж, контроль рентабельности.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Проблемы ручного учета: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Ошибки в подборе запчастей и путаница с аналогами.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Дефицит востребованных позиций или образование неликвидов.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Низкая скорость обслуживания клиентов.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255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6B3EE-14BE-176E-7E01-9D4ECEFC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36" y="8001167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B6D12-7330-F60D-8BEC-3E0A2226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Выбор инструментария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Инструмент проектирования: 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 (Версия Desktop 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App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 / Web)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Преимущества выбора: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Векторная графика и высокая точность макетов.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Интерактивное прототипирование (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кликабельные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 переходы, имитация работы интерфейса).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Компонентный подход (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переиспользование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 кнопок, карточек товаров).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Адаптивный дизайн (отображение на разных разрешениях).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Облачная платформа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(публикация ссылки для просмотра без установки ПО).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Технические требования к просмотру: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Процессор: 2,5 ГГц, ОЗУ: 8 ГБ.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Разрешение экрана: 1920x1080.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Современный веб-браузер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Chrome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Edge).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9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3994A-8DF2-B8E4-F386-4F879C9D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75519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15AB3-8682-8241-166E-BD9FC9190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89558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AS-IS (A-0)</a:t>
            </a:r>
          </a:p>
          <a:p>
            <a:pPr marL="457200" lvl="1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текущего состояния («Как есть»)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Процесс: «Управление деятельностью магазина автозапчастей»</a:t>
            </a:r>
          </a:p>
          <a:p>
            <a:pPr lvl="2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Входы: Новые запчасти от поставщиков, заказы от клиентов.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Выходы: Проданные запчасти, отчеты.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Управление: Нормативные документы, каталоги совместимости.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Механизмы: Персонал, бумажные журналы, MS Excel.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4CAE8E-EA53-D98D-510C-9652BF7A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558" y="1509635"/>
            <a:ext cx="53721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0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19261-96C4-FC10-B41A-FA5E2DE2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632" y="8065336"/>
            <a:ext cx="10515600" cy="1325563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F4BB7-DE74-6B7D-5BE1-6F752419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41432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AS-IS (A0)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Декомпозиция текущего состояния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Четыре основные функции процесса (с использованием Excel/ручного труда):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Ручной учет запчастей (ведение Excel-таблиц остатков и аналогов).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Работа с клиентами (регистрация заказов без CRM).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Оформление продаж (ручное заполнение чеков и документов).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Ручная отчетность (формирование отчетов в Excel).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78EEB6-255F-38FD-70F0-B00F809B7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2" y="1477085"/>
            <a:ext cx="5283399" cy="323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9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17357-5234-E4E9-53FC-7D0CCCC5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4" y="8450346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41AA2-434B-8EB3-BD84-DA27875BD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TO-BE (A-0)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целевого состояния («Как должно быть»)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Процесс: 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	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«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Автоматизированное управление магазином автозапчастей»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Входы: 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Новые запчасти от поставщиков, заказы от клиентов.</a:t>
            </a:r>
            <a:br>
              <a:rPr lang="ru-RU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Выходы: 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Проданные запчасти, автоматические отчеты, электронные накладные.</a:t>
            </a:r>
            <a:b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Управление: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Нормативные документы, база OEM-номеров.</a:t>
            </a:r>
            <a:b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Механизмы: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Персонал</a:t>
            </a:r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 и Информационная система (Прототип в </a:t>
            </a:r>
            <a:r>
              <a:rPr lang="ru-RU" sz="260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) 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2FB144-469C-9C45-D27D-C7A725974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2659"/>
            <a:ext cx="5662863" cy="392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5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4622A-62E5-04E6-59CD-330E3C12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653" y="764824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FEC24B-AD64-0D06-52EE-C5EE45545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52674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TO-BE (A0)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Декомпозиция целевого состояния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Четыре автоматизированные функции: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Автоматический учет склада (актуальные остатки в реальном времени).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CRM-система (ведение карточек клиентов, история заказов).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Модуль продаж (авто-расчет суммы, формирование накладной, статусы заказа).</a:t>
            </a:r>
          </a:p>
          <a:p>
            <a:pPr lvl="1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Автоматическая отчетность (генерация отчетов по продажам и остаткам).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21B582-0170-814F-BAAD-781F66F1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74" y="1312477"/>
            <a:ext cx="5709887" cy="396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2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EE39E-C42A-31F0-8444-BDC25757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58" y="787283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8031D-3D1D-23E3-2D10-08E391FB9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использования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Use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Case)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Актеры (роли) системы: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Администратор: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 Полный доступ (управление пользователями, всеми заказами и каталогом).</a:t>
            </a: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Менеджер: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Работа с каталогом, клиентами, оформление заказов.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Клиент: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Просмотр каталога, оформление заказа, история покупок (через "Личный кабинет").</a:t>
            </a: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Основные функции (варианты использования):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Авторизоваться, Управлять каталогом, Искать запчасти, Оформить заказ.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7F1936-EA49-6199-665B-7CE83BC1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24522"/>
            <a:ext cx="5594985" cy="56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4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C0574-E10D-4C31-A14C-AD3338FC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463" y="8033252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3005A-F88A-D91F-D7CE-B6D876B62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432884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Activity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Процесс: 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«Оформление заказа клиентом»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Три дорожки участников (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Swimlanes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Клиент: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Выбирает запчасть → Добавляет в корзину → Оплачивает → Получает товар.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Система (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 прототип):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Проверяет остаток → Резервирует товар → Формирует чек → Меняет статус заказа.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Менеджер: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Подтверждает заказ → Передает в выдачу.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4CDEC9-EF86-2303-5175-99A7FAB2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952" y="494982"/>
            <a:ext cx="3409950" cy="58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9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28769-75E1-80B9-83BF-E3B3F720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1500" y="7885906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5CF77-750B-4DD9-FC56-44EAC61F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93305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Sequence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Взаимодействие объектов при оформлении заказа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Участники: 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Клиент, Менеджер, ИС (</a:t>
            </a:r>
            <a:r>
              <a:rPr lang="ru-RU" sz="240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), База данных.</a:t>
            </a: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Последовательность сообщений: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 → Менеджер: запрос запчасти.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ИС: поиск по каталогу / VIN.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ИС → БД: выполнение запроса.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БД → ИС: результат (наличие/цена).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Клиент: информирование о цене.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 → Менеджер: согласие на заказ.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ИС: формирование заказа и накладной.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172A89-D06D-293A-585D-57A92C241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05" y="1027906"/>
            <a:ext cx="4779645" cy="46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2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9C7B3-6335-6177-C2A6-2A1E68D8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955DC-0F26-4219-78E6-BCC12710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04547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ER-диаграмма (Сущность-Связь)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Структура данных информационной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Шесть основных сущностей: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Пользователи (ID, Логин, Пароль, Роль).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Клиенты (ФИО, Контакты, История заказов). Связь 1:N с Заказами.</a:t>
            </a:r>
          </a:p>
          <a:p>
            <a:pPr algn="l">
              <a:buFont typeface="+mj-lt"/>
              <a:buAutoNum type="arabicPeriod"/>
            </a:pP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Каталог_запчастей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 (Артикул, Название, Цена, Остаток, Совместимость). Связь 1:N с Заказами.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Заказы (Номер, Дата, Клиент, Статус, Сумма). Центральная сущность.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Поставщики (Название, Контакты). Связь M:N с Каталогом.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Отчеты (ID, Дата, Тип отчета, Данные).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3EF37D-FF0B-6B32-30C9-A45424F0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547" y="123825"/>
            <a:ext cx="593979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9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7B1E1-A9B6-A20C-8E68-06FEC04A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74" y="8013382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784EC-BCC2-51DE-2B96-FD49E9D39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57474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классов (Class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indent="0" algn="l">
              <a:buNone/>
            </a:pPr>
            <a:r>
              <a:rPr lang="en-US" sz="240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Статическая структура системы (объектная модель)</a:t>
            </a:r>
            <a:endParaRPr lang="en-US" sz="2400" dirty="0">
              <a:solidFill>
                <a:srgbClr val="0F1115"/>
              </a:solidFill>
              <a:latin typeface="quote-cjk-patch"/>
            </a:endParaRP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Основные классы (на уровне прототипа):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Класс «Пользователь» (Атрибуты: Логин, Пароль. Метод: Вход()).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Класс «Администратор» (наследует Пользователя. Методы: </a:t>
            </a:r>
            <a:r>
              <a:rPr lang="ru-RU" sz="2400" i="0" dirty="0" err="1">
                <a:solidFill>
                  <a:srgbClr val="0F1115"/>
                </a:solidFill>
                <a:effectLst/>
                <a:latin typeface="quote-cjk-patch"/>
              </a:rPr>
              <a:t>УправлениеПользователями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Класс «Менеджер» (наследует Пользователя. Методы: </a:t>
            </a:r>
            <a:r>
              <a:rPr lang="ru-RU" sz="2400" i="0" dirty="0" err="1">
                <a:solidFill>
                  <a:srgbClr val="0F1115"/>
                </a:solidFill>
                <a:effectLst/>
                <a:latin typeface="quote-cjk-patch"/>
              </a:rPr>
              <a:t>ОформитьЗаказ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Класс «Запчасть» (Атрибуты: Артикул, Цена, Остаток).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Класс «Заказ» (Атрибуты: Номер, Статус, Сумма. Метод: </a:t>
            </a:r>
            <a:r>
              <a:rPr lang="ru-RU" sz="2400" i="0" dirty="0" err="1">
                <a:solidFill>
                  <a:srgbClr val="0F1115"/>
                </a:solidFill>
                <a:effectLst/>
                <a:latin typeface="quote-cjk-patch"/>
              </a:rPr>
              <a:t>РассчитатьИтог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1D266D-8736-0EB7-72D3-6C2C472B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664" y="1155382"/>
            <a:ext cx="5134610" cy="454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4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D73D9-6093-E7A2-8F61-81F2E887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5519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A70607-B332-A470-54B6-7B2383CD8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208295" cy="685800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  <a:hlinkClick r:id="rId2"/>
              </a:rPr>
              <a:t>Форма «Авторизация»</a:t>
            </a:r>
            <a:endParaRPr lang="ru-RU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 контроля доступа к системе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Обязательные элементы формы (макет в 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Поле ввода логина.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Поле ввода пароля (с маскировкой).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Кнопка «Войти».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Сценарии работы (интерактив в 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Успешная авторизация: Переход на форму «Главная» с ролевым меню.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Ошибка в данных: Появление всплывающего сообщения поле пароля очищается.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Отображаемые роли после входа: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Администратор видит пункт «Пользователи».</a:t>
            </a:r>
          </a:p>
          <a:p>
            <a:pPr lvl="1"/>
            <a:r>
              <a:rPr lang="ru-RU" sz="2600" i="0" dirty="0">
                <a:solidFill>
                  <a:srgbClr val="0F1115"/>
                </a:solidFill>
                <a:effectLst/>
                <a:latin typeface="quote-cjk-patch"/>
              </a:rPr>
              <a:t>Менеджер видит только «Каталог», «Заказы», «Клиенты»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116420-0831-59EE-DDEB-7C06F5A54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699" y="889952"/>
            <a:ext cx="3409950" cy="507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0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33CA6-1F0B-DE43-B6A5-16196C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11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923704-A279-1116-8514-AAD135C2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29137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«Главная» и «Каталог»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Главная страница (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Dashboard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Приветствие пользователя.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Блоки с ключевыми показателями (KPI): Остаток на складе, Выручка за месяц, Кол-во заказов сегодня.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Навигационное меню (слева).</a:t>
            </a:r>
            <a:endParaRPr lang="en-US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Форма «Каталог автозапчастей»: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Таблица/Карточки товаров (Фото, Артикул, Название, Цена, Остаток).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Строка поиска и фильтры (по бренду, категории, совместимости).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Кнопка «Поступление товара» (для менеджера).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2AD10-A9B0-A3EC-E667-4A5961D8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41884"/>
            <a:ext cx="5189955" cy="30732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C80DB2-698B-D337-5561-FF365DA20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05" y="3721769"/>
            <a:ext cx="5410200" cy="289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0CFD5-0B94-D12E-08DD-DE312C97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283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CC0A1-1172-78EA-690D-E99789969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272463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«Заказы»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Документ для оформления продаж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Основные реквизиты формы: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Номер заказа, Дата, Клиент (выбор из справочника), Статус (Новый / Оплачен / Выдан / Отменен).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Табличная часть: Список запчастей (Артикул, Наименование, Кол-во, Цена).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Ключевые функции (демонстрируемые в прототипе):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Автоматический расчет итоговой суммы заказа.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Смена статуса заказа (интерактивное выпадающее меню).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Кнопка «Сформировать накладную» (открытие макета печатной формы).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Для клиента: «Мои заказы» (только история).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81D19E-712A-0BD3-918E-BB4DB3CD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45" y="1785937"/>
            <a:ext cx="489331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2A41F-DA94-FC06-F364-54F15AA6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4" y="8610767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11048-1D26-ABEC-60FB-B7F6F63C3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7587916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«Пользователи» и «Отчеты»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Управление пользователями (только для Администратора):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Список сотрудников (Логин, ФИО, Роль, Статус).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Кнопки: «Добавить пользователя», «Заблокировать», «Сброс пароля».</a:t>
            </a:r>
          </a:p>
          <a:p>
            <a:pPr marL="457200" lvl="1" indent="0">
              <a:buNone/>
            </a:pPr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   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(Отображено модальное окно редактирования роли).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Форма «Отчеты»: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Выбор периода (календарь).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Виды отчетов: Продажи по месяцам (график), Остатки на складе.</a:t>
            </a:r>
          </a:p>
          <a:p>
            <a:pPr lvl="1"/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Кнопка «Экспорт в Excel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468F2C-D287-0009-D185-6225FE7A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628" y="47625"/>
            <a:ext cx="4516755" cy="2962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03DC38-F029-A202-B616-F10BB832F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226" y="3895724"/>
            <a:ext cx="4671774" cy="296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7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041EA-EC0F-DAA4-7C16-31B4AD1E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280525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C49FE-A3EA-121E-D21E-9095F9FF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 рамках дипломного проекта разработан прототип ИС для автоматизации магазина автозапчастей.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Реализовано в 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Интерактивный макет с ключевыми экранами (Авторизация, Главная, Каталог, Заказы, Пользователи, Отчеты).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Сценарии навигации (переходы между экранами).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Система ролей (Администратор / Менеджер / Клиент) на уровне прототипа.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Результат: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Прототип наглядно демонстрирует отказ от ручного учета, снижение ошибок при подборе запчастей и повышение скорости обслуживания. Может служить техническим заданием для разработчиков.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96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451A5-C053-70D2-342B-5304ABD3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011" y="2766218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внимание!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6D442-DEB5-4D3C-39B1-479803E5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8340725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14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1333</Words>
  <Application>Microsoft Office PowerPoint</Application>
  <PresentationFormat>Широкоэкранный</PresentationFormat>
  <Paragraphs>156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nike pro</dc:creator>
  <cp:lastModifiedBy>nike pro</cp:lastModifiedBy>
  <cp:revision>2</cp:revision>
  <dcterms:created xsi:type="dcterms:W3CDTF">2026-06-10T20:29:43Z</dcterms:created>
  <dcterms:modified xsi:type="dcterms:W3CDTF">2026-06-21T20:37:04Z</dcterms:modified>
</cp:coreProperties>
</file>